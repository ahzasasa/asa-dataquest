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3618F69-332B-8ADA-C3D2-5B6256F8929A}">
          <p14:sldIdLst>
            <p14:sldId id="256"/>
          </p14:sldIdLst>
        </p14:section>
        <p14:section name="Findings" id="{49EA070C-DED1-9652-E3EC-3BADBCDE3B7D}">
          <p14:sldIdLst>
            <p14:sldId id="257"/>
            <p14:sldId id="258"/>
            <p14:sldId id="259"/>
            <p14:sldId id="260"/>
          </p14:sldIdLst>
        </p14:section>
        <p14:section name="Default-1" id="{A670362B-2330-F99D-F48B-C26156C75196}">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22" autoAdjust="0"/>
    <p:restoredTop sz="94610"/>
  </p:normalViewPr>
  <p:slideViewPr>
    <p:cSldViewPr snapToGrid="0" snapToObjects="1">
      <p:cViewPr varScale="1">
        <p:scale>
          <a:sx n="107" d="100"/>
          <a:sy n="107" d="100"/>
        </p:scale>
        <p:origin x="54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za Taradiva Pasha" userId="16f6e0b0-b984-4363-8653-44ab6bd22d52" providerId="ADAL" clId="{D6149073-68C1-49B8-9B1D-EACC3CEC2B73}"/>
    <pc:docChg chg="undo custSel modSld">
      <pc:chgData name="Ahza Taradiva Pasha" userId="16f6e0b0-b984-4363-8653-44ab6bd22d52" providerId="ADAL" clId="{D6149073-68C1-49B8-9B1D-EACC3CEC2B73}" dt="2026-10-12T08:36:41.355" v="104" actId="478"/>
      <pc:docMkLst>
        <pc:docMk/>
      </pc:docMkLst>
      <pc:sldChg chg="modSp mod">
        <pc:chgData name="Ahza Taradiva Pasha" userId="16f6e0b0-b984-4363-8653-44ab6bd22d52" providerId="ADAL" clId="{D6149073-68C1-49B8-9B1D-EACC3CEC2B73}" dt="2026-10-12T07:21:26.635" v="58" actId="2711"/>
        <pc:sldMkLst>
          <pc:docMk/>
          <pc:sldMk cId="0" sldId="256"/>
        </pc:sldMkLst>
        <pc:spChg chg="mod">
          <ac:chgData name="Ahza Taradiva Pasha" userId="16f6e0b0-b984-4363-8653-44ab6bd22d52" providerId="ADAL" clId="{D6149073-68C1-49B8-9B1D-EACC3CEC2B73}" dt="2026-10-12T07:21:26.635" v="58" actId="2711"/>
          <ac:spMkLst>
            <pc:docMk/>
            <pc:sldMk cId="0" sldId="256"/>
            <ac:spMk id="2" creationId="{00000000-0000-0000-0000-000000000000}"/>
          </ac:spMkLst>
        </pc:spChg>
        <pc:spChg chg="mod">
          <ac:chgData name="Ahza Taradiva Pasha" userId="16f6e0b0-b984-4363-8653-44ab6bd22d52" providerId="ADAL" clId="{D6149073-68C1-49B8-9B1D-EACC3CEC2B73}" dt="2026-10-11T09:02:07.657" v="9" actId="255"/>
          <ac:spMkLst>
            <pc:docMk/>
            <pc:sldMk cId="0" sldId="256"/>
            <ac:spMk id="3" creationId="{00000000-0000-0000-0000-000000000000}"/>
          </ac:spMkLst>
        </pc:spChg>
        <pc:spChg chg="mod">
          <ac:chgData name="Ahza Taradiva Pasha" userId="16f6e0b0-b984-4363-8653-44ab6bd22d52" providerId="ADAL" clId="{D6149073-68C1-49B8-9B1D-EACC3CEC2B73}" dt="2026-10-11T09:02:14.656" v="11" actId="255"/>
          <ac:spMkLst>
            <pc:docMk/>
            <pc:sldMk cId="0" sldId="256"/>
            <ac:spMk id="4" creationId="{00000000-0000-0000-0000-000000000000}"/>
          </ac:spMkLst>
        </pc:spChg>
      </pc:sldChg>
      <pc:sldChg chg="addSp delSp modSp mod">
        <pc:chgData name="Ahza Taradiva Pasha" userId="16f6e0b0-b984-4363-8653-44ab6bd22d52" providerId="ADAL" clId="{D6149073-68C1-49B8-9B1D-EACC3CEC2B73}" dt="2026-10-12T07:48:18.729" v="98" actId="14826"/>
        <pc:sldMkLst>
          <pc:docMk/>
          <pc:sldMk cId="0" sldId="257"/>
        </pc:sldMkLst>
        <pc:spChg chg="mod">
          <ac:chgData name="Ahza Taradiva Pasha" userId="16f6e0b0-b984-4363-8653-44ab6bd22d52" providerId="ADAL" clId="{D6149073-68C1-49B8-9B1D-EACC3CEC2B73}" dt="2026-10-11T09:02:25.995" v="12" actId="2711"/>
          <ac:spMkLst>
            <pc:docMk/>
            <pc:sldMk cId="0" sldId="257"/>
            <ac:spMk id="2" creationId="{00000000-0000-0000-0000-000000000000}"/>
          </ac:spMkLst>
        </pc:spChg>
        <pc:spChg chg="mod">
          <ac:chgData name="Ahza Taradiva Pasha" userId="16f6e0b0-b984-4363-8653-44ab6bd22d52" providerId="ADAL" clId="{D6149073-68C1-49B8-9B1D-EACC3CEC2B73}" dt="2026-10-11T09:04:08.595" v="26" actId="1076"/>
          <ac:spMkLst>
            <pc:docMk/>
            <pc:sldMk cId="0" sldId="257"/>
            <ac:spMk id="4" creationId="{00000000-0000-0000-0000-000000000000}"/>
          </ac:spMkLst>
        </pc:spChg>
        <pc:spChg chg="add del mod">
          <ac:chgData name="Ahza Taradiva Pasha" userId="16f6e0b0-b984-4363-8653-44ab6bd22d52" providerId="ADAL" clId="{D6149073-68C1-49B8-9B1D-EACC3CEC2B73}" dt="2026-10-11T09:02:42.320" v="16"/>
          <ac:spMkLst>
            <pc:docMk/>
            <pc:sldMk cId="0" sldId="257"/>
            <ac:spMk id="5" creationId="{C80A16CB-E800-B193-07B8-0A88829D0837}"/>
          </ac:spMkLst>
        </pc:spChg>
        <pc:spChg chg="add del mod">
          <ac:chgData name="Ahza Taradiva Pasha" userId="16f6e0b0-b984-4363-8653-44ab6bd22d52" providerId="ADAL" clId="{D6149073-68C1-49B8-9B1D-EACC3CEC2B73}" dt="2026-10-11T09:03:36.787" v="24"/>
          <ac:spMkLst>
            <pc:docMk/>
            <pc:sldMk cId="0" sldId="257"/>
            <ac:spMk id="6" creationId="{B6C9064D-E5FA-EF84-97D1-A7856D197B74}"/>
          </ac:spMkLst>
        </pc:spChg>
        <pc:spChg chg="add del mod">
          <ac:chgData name="Ahza Taradiva Pasha" userId="16f6e0b0-b984-4363-8653-44ab6bd22d52" providerId="ADAL" clId="{D6149073-68C1-49B8-9B1D-EACC3CEC2B73}" dt="2026-10-12T07:45:54.276" v="83"/>
          <ac:spMkLst>
            <pc:docMk/>
            <pc:sldMk cId="0" sldId="257"/>
            <ac:spMk id="9" creationId="{19E3A52C-F0A4-4871-8667-7A6FFBECD640}"/>
          </ac:spMkLst>
        </pc:spChg>
        <pc:picChg chg="mod">
          <ac:chgData name="Ahza Taradiva Pasha" userId="16f6e0b0-b984-4363-8653-44ab6bd22d52" providerId="ADAL" clId="{D6149073-68C1-49B8-9B1D-EACC3CEC2B73}" dt="2026-10-12T07:48:18.729" v="98" actId="14826"/>
          <ac:picMkLst>
            <pc:docMk/>
            <pc:sldMk cId="0" sldId="257"/>
            <ac:picMk id="3" creationId="{00000000-0000-0000-0000-000000000000}"/>
          </ac:picMkLst>
        </pc:picChg>
        <pc:picChg chg="add del">
          <ac:chgData name="Ahza Taradiva Pasha" userId="16f6e0b0-b984-4363-8653-44ab6bd22d52" providerId="ADAL" clId="{D6149073-68C1-49B8-9B1D-EACC3CEC2B73}" dt="2026-10-12T07:40:22.546" v="60" actId="22"/>
          <ac:picMkLst>
            <pc:docMk/>
            <pc:sldMk cId="0" sldId="257"/>
            <ac:picMk id="6" creationId="{3D273D10-4885-2A6B-7CA2-61A629896A56}"/>
          </ac:picMkLst>
        </pc:picChg>
        <pc:picChg chg="add del mod modCrop">
          <ac:chgData name="Ahza Taradiva Pasha" userId="16f6e0b0-b984-4363-8653-44ab6bd22d52" providerId="ADAL" clId="{D6149073-68C1-49B8-9B1D-EACC3CEC2B73}" dt="2026-10-12T07:44:13.257" v="75" actId="478"/>
          <ac:picMkLst>
            <pc:docMk/>
            <pc:sldMk cId="0" sldId="257"/>
            <ac:picMk id="8" creationId="{3267A320-83FF-1B84-A7D3-E102300723AF}"/>
          </ac:picMkLst>
        </pc:picChg>
        <pc:picChg chg="add del mod modCrop">
          <ac:chgData name="Ahza Taradiva Pasha" userId="16f6e0b0-b984-4363-8653-44ab6bd22d52" providerId="ADAL" clId="{D6149073-68C1-49B8-9B1D-EACC3CEC2B73}" dt="2026-10-12T07:48:10.141" v="96" actId="21"/>
          <ac:picMkLst>
            <pc:docMk/>
            <pc:sldMk cId="0" sldId="257"/>
            <ac:picMk id="11" creationId="{42E80E6C-DFB4-902B-3AD2-16C909957846}"/>
          </ac:picMkLst>
        </pc:picChg>
      </pc:sldChg>
      <pc:sldChg chg="addSp delSp modSp mod">
        <pc:chgData name="Ahza Taradiva Pasha" userId="16f6e0b0-b984-4363-8653-44ab6bd22d52" providerId="ADAL" clId="{D6149073-68C1-49B8-9B1D-EACC3CEC2B73}" dt="2026-10-12T08:36:41.355" v="104" actId="478"/>
        <pc:sldMkLst>
          <pc:docMk/>
          <pc:sldMk cId="0" sldId="258"/>
        </pc:sldMkLst>
        <pc:spChg chg="mod">
          <ac:chgData name="Ahza Taradiva Pasha" userId="16f6e0b0-b984-4363-8653-44ab6bd22d52" providerId="ADAL" clId="{D6149073-68C1-49B8-9B1D-EACC3CEC2B73}" dt="2026-10-11T09:01:28.856" v="5" actId="2711"/>
          <ac:spMkLst>
            <pc:docMk/>
            <pc:sldMk cId="0" sldId="258"/>
            <ac:spMk id="2" creationId="{00000000-0000-0000-0000-000000000000}"/>
          </ac:spMkLst>
        </pc:spChg>
        <pc:spChg chg="add del mod">
          <ac:chgData name="Ahza Taradiva Pasha" userId="16f6e0b0-b984-4363-8653-44ab6bd22d52" providerId="ADAL" clId="{D6149073-68C1-49B8-9B1D-EACC3CEC2B73}" dt="2026-10-11T09:04:30.865" v="28" actId="255"/>
          <ac:spMkLst>
            <pc:docMk/>
            <pc:sldMk cId="0" sldId="258"/>
            <ac:spMk id="4" creationId="{00000000-0000-0000-0000-000000000000}"/>
          </ac:spMkLst>
        </pc:spChg>
        <pc:spChg chg="add del mod">
          <ac:chgData name="Ahza Taradiva Pasha" userId="16f6e0b0-b984-4363-8653-44ab6bd22d52" providerId="ADAL" clId="{D6149073-68C1-49B8-9B1D-EACC3CEC2B73}" dt="2026-10-11T09:04:36.666" v="31"/>
          <ac:spMkLst>
            <pc:docMk/>
            <pc:sldMk cId="0" sldId="258"/>
            <ac:spMk id="5" creationId="{21C46AE6-27A2-2981-E9BA-13F2B8572234}"/>
          </ac:spMkLst>
        </pc:spChg>
        <pc:spChg chg="add del mod">
          <ac:chgData name="Ahza Taradiva Pasha" userId="16f6e0b0-b984-4363-8653-44ab6bd22d52" providerId="ADAL" clId="{D6149073-68C1-49B8-9B1D-EACC3CEC2B73}" dt="2026-10-11T09:04:44.738" v="34"/>
          <ac:spMkLst>
            <pc:docMk/>
            <pc:sldMk cId="0" sldId="258"/>
            <ac:spMk id="6" creationId="{2F160D2D-5914-1EF6-575D-0234094F16D7}"/>
          </ac:spMkLst>
        </pc:spChg>
        <pc:spChg chg="add del mod">
          <ac:chgData name="Ahza Taradiva Pasha" userId="16f6e0b0-b984-4363-8653-44ab6bd22d52" providerId="ADAL" clId="{D6149073-68C1-49B8-9B1D-EACC3CEC2B73}" dt="2026-10-11T09:04:46.499" v="37"/>
          <ac:spMkLst>
            <pc:docMk/>
            <pc:sldMk cId="0" sldId="258"/>
            <ac:spMk id="7" creationId="{A8F86AD2-C41A-3789-80F5-B735A550C761}"/>
          </ac:spMkLst>
        </pc:spChg>
        <pc:spChg chg="mod">
          <ac:chgData name="Ahza Taradiva Pasha" userId="16f6e0b0-b984-4363-8653-44ab6bd22d52" providerId="ADAL" clId="{D6149073-68C1-49B8-9B1D-EACC3CEC2B73}" dt="2026-10-11T09:02:55.846" v="17" actId="2711"/>
          <ac:spMkLst>
            <pc:docMk/>
            <pc:sldMk cId="0" sldId="258"/>
            <ac:spMk id="25" creationId="{00000000-0000-0000-0000-000000000000}"/>
          </ac:spMkLst>
        </pc:spChg>
        <pc:picChg chg="add del mod">
          <ac:chgData name="Ahza Taradiva Pasha" userId="16f6e0b0-b984-4363-8653-44ab6bd22d52" providerId="ADAL" clId="{D6149073-68C1-49B8-9B1D-EACC3CEC2B73}" dt="2026-10-12T07:42:58.303" v="64" actId="478"/>
          <ac:picMkLst>
            <pc:docMk/>
            <pc:sldMk cId="0" sldId="258"/>
            <ac:picMk id="6" creationId="{D2C356C6-F8E0-6EDA-F0E4-F07FC9A55394}"/>
          </ac:picMkLst>
        </pc:picChg>
        <pc:picChg chg="add del mod">
          <ac:chgData name="Ahza Taradiva Pasha" userId="16f6e0b0-b984-4363-8653-44ab6bd22d52" providerId="ADAL" clId="{D6149073-68C1-49B8-9B1D-EACC3CEC2B73}" dt="2026-10-12T08:06:42.911" v="101" actId="478"/>
          <ac:picMkLst>
            <pc:docMk/>
            <pc:sldMk cId="0" sldId="258"/>
            <ac:picMk id="8" creationId="{733D27B2-C3E4-1BE2-3FD3-4D610926519B}"/>
          </ac:picMkLst>
        </pc:picChg>
        <pc:picChg chg="add del mod">
          <ac:chgData name="Ahza Taradiva Pasha" userId="16f6e0b0-b984-4363-8653-44ab6bd22d52" providerId="ADAL" clId="{D6149073-68C1-49B8-9B1D-EACC3CEC2B73}" dt="2026-10-12T08:36:41.355" v="104" actId="478"/>
          <ac:picMkLst>
            <pc:docMk/>
            <pc:sldMk cId="0" sldId="258"/>
            <ac:picMk id="10" creationId="{CAF9F197-547D-6413-2E48-30641DB4B6C3}"/>
          </ac:picMkLst>
        </pc:picChg>
      </pc:sldChg>
      <pc:sldChg chg="modSp mod">
        <pc:chgData name="Ahza Taradiva Pasha" userId="16f6e0b0-b984-4363-8653-44ab6bd22d52" providerId="ADAL" clId="{D6149073-68C1-49B8-9B1D-EACC3CEC2B73}" dt="2026-10-11T09:05:47.236" v="43" actId="255"/>
        <pc:sldMkLst>
          <pc:docMk/>
          <pc:sldMk cId="0" sldId="259"/>
        </pc:sldMkLst>
        <pc:spChg chg="mod">
          <ac:chgData name="Ahza Taradiva Pasha" userId="16f6e0b0-b984-4363-8653-44ab6bd22d52" providerId="ADAL" clId="{D6149073-68C1-49B8-9B1D-EACC3CEC2B73}" dt="2026-10-11T09:05:09.408" v="38" actId="2711"/>
          <ac:spMkLst>
            <pc:docMk/>
            <pc:sldMk cId="0" sldId="259"/>
            <ac:spMk id="2" creationId="{00000000-0000-0000-0000-000000000000}"/>
          </ac:spMkLst>
        </pc:spChg>
        <pc:spChg chg="mod">
          <ac:chgData name="Ahza Taradiva Pasha" userId="16f6e0b0-b984-4363-8653-44ab6bd22d52" providerId="ADAL" clId="{D6149073-68C1-49B8-9B1D-EACC3CEC2B73}" dt="2026-10-11T09:05:34.495" v="41" actId="2711"/>
          <ac:spMkLst>
            <pc:docMk/>
            <pc:sldMk cId="0" sldId="259"/>
            <ac:spMk id="3" creationId="{00000000-0000-0000-0000-000000000000}"/>
          </ac:spMkLst>
        </pc:spChg>
        <pc:spChg chg="mod">
          <ac:chgData name="Ahza Taradiva Pasha" userId="16f6e0b0-b984-4363-8653-44ab6bd22d52" providerId="ADAL" clId="{D6149073-68C1-49B8-9B1D-EACC3CEC2B73}" dt="2026-10-11T09:05:47.236" v="43" actId="255"/>
          <ac:spMkLst>
            <pc:docMk/>
            <pc:sldMk cId="0" sldId="259"/>
            <ac:spMk id="5" creationId="{00000000-0000-0000-0000-000000000000}"/>
          </ac:spMkLst>
        </pc:spChg>
        <pc:spChg chg="mod">
          <ac:chgData name="Ahza Taradiva Pasha" userId="16f6e0b0-b984-4363-8653-44ab6bd22d52" providerId="ADAL" clId="{D6149073-68C1-49B8-9B1D-EACC3CEC2B73}" dt="2026-10-11T09:05:15.752" v="39" actId="2711"/>
          <ac:spMkLst>
            <pc:docMk/>
            <pc:sldMk cId="0" sldId="259"/>
            <ac:spMk id="7" creationId="{00000000-0000-0000-0000-000000000000}"/>
          </ac:spMkLst>
        </pc:spChg>
        <pc:spChg chg="mod">
          <ac:chgData name="Ahza Taradiva Pasha" userId="16f6e0b0-b984-4363-8653-44ab6bd22d52" providerId="ADAL" clId="{D6149073-68C1-49B8-9B1D-EACC3CEC2B73}" dt="2026-10-11T09:05:23.866" v="40" actId="2711"/>
          <ac:spMkLst>
            <pc:docMk/>
            <pc:sldMk cId="0" sldId="259"/>
            <ac:spMk id="8" creationId="{00000000-0000-0000-0000-000000000000}"/>
          </ac:spMkLst>
        </pc:spChg>
      </pc:sldChg>
      <pc:sldChg chg="modSp mod">
        <pc:chgData name="Ahza Taradiva Pasha" userId="16f6e0b0-b984-4363-8653-44ab6bd22d52" providerId="ADAL" clId="{D6149073-68C1-49B8-9B1D-EACC3CEC2B73}" dt="2026-10-11T09:09:02.414" v="51" actId="255"/>
        <pc:sldMkLst>
          <pc:docMk/>
          <pc:sldMk cId="0" sldId="260"/>
        </pc:sldMkLst>
        <pc:spChg chg="mod">
          <ac:chgData name="Ahza Taradiva Pasha" userId="16f6e0b0-b984-4363-8653-44ab6bd22d52" providerId="ADAL" clId="{D6149073-68C1-49B8-9B1D-EACC3CEC2B73}" dt="2026-10-11T09:08:34.215" v="46" actId="255"/>
          <ac:spMkLst>
            <pc:docMk/>
            <pc:sldMk cId="0" sldId="260"/>
            <ac:spMk id="2" creationId="{00000000-0000-0000-0000-000000000000}"/>
          </ac:spMkLst>
        </pc:spChg>
        <pc:spChg chg="mod">
          <ac:chgData name="Ahza Taradiva Pasha" userId="16f6e0b0-b984-4363-8653-44ab6bd22d52" providerId="ADAL" clId="{D6149073-68C1-49B8-9B1D-EACC3CEC2B73}" dt="2026-10-11T09:09:02.414" v="51" actId="255"/>
          <ac:spMkLst>
            <pc:docMk/>
            <pc:sldMk cId="0" sldId="260"/>
            <ac:spMk id="5" creationId="{00000000-0000-0000-0000-000000000000}"/>
          </ac:spMkLst>
        </pc:spChg>
        <pc:spChg chg="mod">
          <ac:chgData name="Ahza Taradiva Pasha" userId="16f6e0b0-b984-4363-8653-44ab6bd22d52" providerId="ADAL" clId="{D6149073-68C1-49B8-9B1D-EACC3CEC2B73}" dt="2026-10-11T09:08:54.502" v="49" actId="2711"/>
          <ac:spMkLst>
            <pc:docMk/>
            <pc:sldMk cId="0" sldId="260"/>
            <ac:spMk id="6" creationId="{00000000-0000-0000-0000-000000000000}"/>
          </ac:spMkLst>
        </pc:spChg>
        <pc:spChg chg="mod">
          <ac:chgData name="Ahza Taradiva Pasha" userId="16f6e0b0-b984-4363-8653-44ab6bd22d52" providerId="ADAL" clId="{D6149073-68C1-49B8-9B1D-EACC3CEC2B73}" dt="2026-10-11T09:08:47.487" v="48" actId="255"/>
          <ac:spMkLst>
            <pc:docMk/>
            <pc:sldMk cId="0" sldId="260"/>
            <ac:spMk id="7" creationId="{00000000-0000-0000-0000-000000000000}"/>
          </ac:spMkLst>
        </pc:spChg>
      </pc:sldChg>
      <pc:sldChg chg="modSp mod">
        <pc:chgData name="Ahza Taradiva Pasha" userId="16f6e0b0-b984-4363-8653-44ab6bd22d52" providerId="ADAL" clId="{D6149073-68C1-49B8-9B1D-EACC3CEC2B73}" dt="2026-10-11T09:09:31.109" v="56" actId="255"/>
        <pc:sldMkLst>
          <pc:docMk/>
          <pc:sldMk cId="0" sldId="261"/>
        </pc:sldMkLst>
        <pc:spChg chg="mod">
          <ac:chgData name="Ahza Taradiva Pasha" userId="16f6e0b0-b984-4363-8653-44ab6bd22d52" providerId="ADAL" clId="{D6149073-68C1-49B8-9B1D-EACC3CEC2B73}" dt="2026-10-11T09:09:20.035" v="53" actId="255"/>
          <ac:spMkLst>
            <pc:docMk/>
            <pc:sldMk cId="0" sldId="261"/>
            <ac:spMk id="2" creationId="{00000000-0000-0000-0000-000000000000}"/>
          </ac:spMkLst>
        </pc:spChg>
        <pc:spChg chg="mod">
          <ac:chgData name="Ahza Taradiva Pasha" userId="16f6e0b0-b984-4363-8653-44ab6bd22d52" providerId="ADAL" clId="{D6149073-68C1-49B8-9B1D-EACC3CEC2B73}" dt="2026-10-11T09:09:24.628" v="54" actId="2711"/>
          <ac:spMkLst>
            <pc:docMk/>
            <pc:sldMk cId="0" sldId="261"/>
            <ac:spMk id="3" creationId="{00000000-0000-0000-0000-000000000000}"/>
          </ac:spMkLst>
        </pc:spChg>
        <pc:spChg chg="mod">
          <ac:chgData name="Ahza Taradiva Pasha" userId="16f6e0b0-b984-4363-8653-44ab6bd22d52" providerId="ADAL" clId="{D6149073-68C1-49B8-9B1D-EACC3CEC2B73}" dt="2026-10-11T09:09:31.109" v="56" actId="255"/>
          <ac:spMkLst>
            <pc:docMk/>
            <pc:sldMk cId="0" sldId="261"/>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Group A</c:v>
                </c:pt>
              </c:strCache>
            </c:strRef>
          </c:tx>
          <c:spPr>
            <a:solidFill>
              <a:srgbClr val="E69F00"/>
            </a:solidFill>
            <a:effectLst/>
          </c:spPr>
          <c:invertIfNegative val="0"/>
          <c:dLbls>
            <c:numFmt formatCode="0.00" sourceLinked="0"/>
            <c:spPr>
              <a:noFill/>
              <a:ln>
                <a:noFill/>
              </a:ln>
              <a:effectLst/>
            </c:spPr>
            <c:txPr>
              <a:bodyPr/>
              <a:lstStyle/>
              <a:p>
                <a:pPr>
                  <a:defRPr sz="1200" b="0" i="0" u="none" strike="noStrike">
                    <a:solidFill>
                      <a:srgbClr val="16202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2050</c:v>
                </c:pt>
                <c:pt idx="1">
                  <c:v>2100</c:v>
                </c:pt>
              </c:strCache>
            </c:strRef>
          </c:cat>
          <c:val>
            <c:numRef>
              <c:f>Sheet1!$B$2:$B$3</c:f>
              <c:numCache>
                <c:formatCode>General</c:formatCode>
                <c:ptCount val="2"/>
                <c:pt idx="0">
                  <c:v>0.53200000000000003</c:v>
                </c:pt>
                <c:pt idx="1">
                  <c:v>1.9730000000000001</c:v>
                </c:pt>
              </c:numCache>
            </c:numRef>
          </c:val>
          <c:extLst>
            <c:ext xmlns:c16="http://schemas.microsoft.com/office/drawing/2014/chart" uri="{C3380CC4-5D6E-409C-BE32-E72D297353CC}">
              <c16:uniqueId val="{00000000-2E01-4752-B209-EA58FC285FE1}"/>
            </c:ext>
          </c:extLst>
        </c:ser>
        <c:ser>
          <c:idx val="1"/>
          <c:order val="1"/>
          <c:tx>
            <c:strRef>
              <c:f>Sheet1!$C$1</c:f>
              <c:strCache>
                <c:ptCount val="1"/>
                <c:pt idx="0">
                  <c:v>Group B</c:v>
                </c:pt>
              </c:strCache>
            </c:strRef>
          </c:tx>
          <c:spPr>
            <a:solidFill>
              <a:srgbClr val="009E73"/>
            </a:solidFill>
            <a:effectLst/>
          </c:spPr>
          <c:invertIfNegative val="0"/>
          <c:dLbls>
            <c:numFmt formatCode="0.00" sourceLinked="0"/>
            <c:spPr>
              <a:noFill/>
              <a:ln>
                <a:noFill/>
              </a:ln>
              <a:effectLst/>
            </c:spPr>
            <c:txPr>
              <a:bodyPr/>
              <a:lstStyle/>
              <a:p>
                <a:pPr>
                  <a:defRPr sz="1200" b="0" i="0" u="none" strike="noStrike">
                    <a:solidFill>
                      <a:srgbClr val="16202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2050</c:v>
                </c:pt>
                <c:pt idx="1">
                  <c:v>2100</c:v>
                </c:pt>
              </c:strCache>
            </c:strRef>
          </c:cat>
          <c:val>
            <c:numRef>
              <c:f>Sheet1!$C$2:$C$3</c:f>
              <c:numCache>
                <c:formatCode>General</c:formatCode>
                <c:ptCount val="2"/>
                <c:pt idx="0">
                  <c:v>0.45900000000000002</c:v>
                </c:pt>
                <c:pt idx="1">
                  <c:v>1.762</c:v>
                </c:pt>
              </c:numCache>
            </c:numRef>
          </c:val>
          <c:extLst>
            <c:ext xmlns:c16="http://schemas.microsoft.com/office/drawing/2014/chart" uri="{C3380CC4-5D6E-409C-BE32-E72D297353CC}">
              <c16:uniqueId val="{00000001-2E01-4752-B209-EA58FC285FE1}"/>
            </c:ext>
          </c:extLst>
        </c:ser>
        <c:ser>
          <c:idx val="2"/>
          <c:order val="2"/>
          <c:tx>
            <c:strRef>
              <c:f>Sheet1!$D$1</c:f>
              <c:strCache>
                <c:ptCount val="1"/>
                <c:pt idx="0">
                  <c:v>Group C</c:v>
                </c:pt>
              </c:strCache>
            </c:strRef>
          </c:tx>
          <c:spPr>
            <a:solidFill>
              <a:srgbClr val="0072B2"/>
            </a:solidFill>
            <a:effectLst/>
          </c:spPr>
          <c:invertIfNegative val="0"/>
          <c:dLbls>
            <c:numFmt formatCode="0.00" sourceLinked="0"/>
            <c:spPr>
              <a:noFill/>
              <a:ln>
                <a:noFill/>
              </a:ln>
              <a:effectLst/>
            </c:spPr>
            <c:txPr>
              <a:bodyPr/>
              <a:lstStyle/>
              <a:p>
                <a:pPr>
                  <a:defRPr sz="1200" b="0" i="0" u="none" strike="noStrike">
                    <a:solidFill>
                      <a:srgbClr val="16202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2050</c:v>
                </c:pt>
                <c:pt idx="1">
                  <c:v>2100</c:v>
                </c:pt>
              </c:strCache>
            </c:strRef>
          </c:cat>
          <c:val>
            <c:numRef>
              <c:f>Sheet1!$D$2:$D$3</c:f>
              <c:numCache>
                <c:formatCode>General</c:formatCode>
                <c:ptCount val="2"/>
                <c:pt idx="0">
                  <c:v>0.36099999999999999</c:v>
                </c:pt>
                <c:pt idx="1">
                  <c:v>1.409</c:v>
                </c:pt>
              </c:numCache>
            </c:numRef>
          </c:val>
          <c:extLst>
            <c:ext xmlns:c16="http://schemas.microsoft.com/office/drawing/2014/chart" uri="{C3380CC4-5D6E-409C-BE32-E72D297353CC}">
              <c16:uniqueId val="{00000002-2E01-4752-B209-EA58FC285FE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6202D"/>
                </a:solidFill>
                <a:latin typeface="+mn-lt"/>
              </a:defRPr>
            </a:pPr>
            <a:endParaRPr lang="en-US"/>
          </a:p>
        </c:txPr>
        <c:crossAx val="2094734552"/>
        <c:crosses val="autoZero"/>
        <c:auto val="1"/>
        <c:lblAlgn val="ctr"/>
        <c:lblOffset val="100"/>
        <c:noMultiLvlLbl val="1"/>
      </c:catAx>
      <c:valAx>
        <c:axId val="2094734552"/>
        <c:scaling>
          <c:orientation val="minMax"/>
          <c:max val="2.4"/>
          <c:min val="0"/>
        </c:scaling>
        <c:delete val="0"/>
        <c:axPos val="l"/>
        <c:majorGridlines>
          <c:spPr>
            <a:ln w="9525" cap="flat">
              <a:solidFill>
                <a:srgbClr val="DDE2E8"/>
              </a:solidFill>
              <a:prstDash val="solid"/>
              <a:round/>
            </a:ln>
          </c:spPr>
        </c:majorGridlines>
        <c:title>
          <c:tx>
            <c:rich>
              <a:bodyPr/>
              <a:lstStyle/>
              <a:p>
                <a:pPr>
                  <a:defRPr sz="1200" b="0" i="0" u="none" strike="noStrike">
                    <a:solidFill>
                      <a:srgbClr val="5B6573"/>
                    </a:solidFill>
                    <a:latin typeface="+mn-lt"/>
                  </a:defRPr>
                </a:pPr>
                <a:r>
                  <a:rPr lang="en-AU" sz="1200" b="0" i="0" u="none" strike="noStrike">
                    <a:solidFill>
                      <a:srgbClr val="5B6573"/>
                    </a:solidFill>
                    <a:latin typeface="+mn-lt"/>
                  </a:rPr>
                  <a:t>Relative width of the 95% interval (population)</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majorUnit val="0.4"/>
      </c:valAx>
      <c:spPr>
        <a:noFill/>
        <a:ln>
          <a:noFill/>
        </a:ln>
        <a:effectLst/>
      </c:spPr>
    </c:plotArea>
    <c:legend>
      <c:legendPos val="b"/>
      <c:overlay val="0"/>
      <c:txPr>
        <a:bodyPr/>
        <a:lstStyle/>
        <a:p>
          <a:pPr>
            <a:defRPr sz="1200">
              <a:solidFill>
                <a:srgbClr val="1620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329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Do countries follow one demographic path, or many? Using the UN's World Population Prospects 2024, we asked three questions: how many distinct pathways have countries followed since 1950, how robust are those groups, and how uncertain are their futures? We locked our analysis plan before looking at any results, and we label everything that was exploratory or post hoc.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[0:20-1:20] We clustered 200 countries and areas with at least a hundred thousand people, using decade medians of fertility, life expectancy at birth and life expectancy at sixty, from the nineteen-fifties to the twenty-tens. Most of the variation sits on one axis: the demographic transition. K-means finds two very robust groups and a stable three-group version, shown here. Group A averages about four-and-a-half births per woman and a life expectancy of sixty-two; group C, one-point-six births and eighty years. The groups relate to geography but are not identical to it: Asia and Latin America are split across groups. Hatching marks countries near a boundary, or with fewer than a hundred thousand people, where membership is less certain.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[1:20-2:20] Plot life expectancy against fertility and countries travel along one corridor, at different times. The group medians show it: fertility fell first in group C, then B, and group A is still falling. Looking ahead, the UN medium scenario, dashed, brings fertility together, but that convergence is largely built into the projection model. Life expectancy at birth also converges slowly. Life expectancy at sixty does not: the gap between groups A and C widens from about seven to about ten years. In this scenario, the differences that remain are about longevity, not fertility.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[2:20-3:30] How sure are we? We tested the groups in three ways. Bootstrap: ninety-seven-and-a-half percent of countries keep their group in at least eighty percent of five hundred resamples. Sixteen alternative data choices: k-means keeps ninety-four to a hundred percent of countries in the same group. But Ward clustering and mixture models agree much less, between seventy-one and ninety-three percent, so the edges between stages are soft; only five countries, such as Bangladesh and the Solomon Islands, are truly borderline. On the right, uncertainty about the future: intervals for 2100 population are relatively wider for earlier-stage groups, but the pattern is weak and disappears when the smallest territories are included, so we report it as fragile.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Two more findings are exploratory. Life expectancy at birth converged across countries, but at sixty the relative spread grew by about forty-five percent. And women's advantage at sixty diverges between two low-fertility groups, widening in one and narrowing in the other. We make no causal claims. On responsible use: these are modelled estimates of uneven quality; projections are scenarios, not forecasts; the groups describe patterns, not merit, and we avoid rankings; and national averages hide differences inside countries. Every number in this video can be reproduced from our notebook, and anything added after seeing results is labelled post hoc. Thank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6400800" cy="21031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chemeClr val="tx2"/>
                </a:solidFill>
              </a:rPr>
              <a:t>ASA International DataQuest 2026</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EFS">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6400800" cy="2103120"/>
          </a:xfrm>
          <a:prstGeom prst="rect">
            <a:avLst/>
          </a:prstGeom>
          <a:noFill/>
          <a:ln/>
        </p:spPr>
        <p:txBody>
          <a:bodyPr wrap="square" lIns="0" tIns="0" rIns="0" bIns="0" rtlCol="0" anchor="t"/>
          <a:lstStyle/>
          <a:p>
            <a:pPr marL="0" indent="0" algn="l">
              <a:buNone/>
            </a:pPr>
            <a:r>
              <a:rPr lang="en-US" sz="4400" b="1"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Demographic pathways:</a:t>
            </a:r>
            <a:endParaRPr lang="en-US" sz="44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lgn="l">
              <a:buNone/>
            </a:pPr>
            <a:r>
              <a:rPr lang="en-US" sz="4400" b="1"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one transition,</a:t>
            </a:r>
            <a:endParaRPr lang="en-US" sz="44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lgn="l">
              <a:buNone/>
            </a:pPr>
            <a:r>
              <a:rPr lang="en-US" sz="4400" b="1"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different timings</a:t>
            </a:r>
            <a:endParaRPr lang="en-US" sz="44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Subtitle"/>
          <p:cNvSpPr txBox="1"/>
          <p:nvPr/>
        </p:nvSpPr>
        <p:spPr>
          <a:xfrm>
            <a:off x="640080" y="3657600"/>
            <a:ext cx="6400800" cy="822960"/>
          </a:xfrm>
          <a:prstGeom prst="rect">
            <a:avLst/>
          </a:prstGeom>
          <a:noFill/>
          <a:ln/>
        </p:spPr>
        <p:txBody>
          <a:bodyPr wrap="square" lIns="0" tIns="0" rIns="0" bIns="0" rtlCol="0" anchor="t"/>
          <a:lstStyle/>
          <a:p>
            <a:pPr marL="0" indent="0">
              <a:buNone/>
            </a:pPr>
            <a:r>
              <a:rPr lang="en-US" sz="2200" dirty="0">
                <a:solidFill>
                  <a:srgbClr val="C9D3E3"/>
                </a:solidFill>
                <a:latin typeface="Roboto Condensed" panose="02000000000000000000" pitchFamily="2" charset="0"/>
                <a:ea typeface="Roboto Condensed" panose="02000000000000000000" pitchFamily="2" charset="0"/>
                <a:cs typeface="Roboto Condensed" panose="02000000000000000000" pitchFamily="2" charset="0"/>
              </a:rPr>
              <a:t>How robust are country groupings, and how uncertain are their futures?</a:t>
            </a:r>
            <a:endParaRPr lang="en-US"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4" name="Team line"/>
          <p:cNvSpPr txBox="1"/>
          <p:nvPr/>
        </p:nvSpPr>
        <p:spPr>
          <a:xfrm>
            <a:off x="640080" y="4937760"/>
            <a:ext cx="6400800" cy="822960"/>
          </a:xfrm>
          <a:prstGeom prst="rect">
            <a:avLst/>
          </a:prstGeom>
          <a:noFill/>
          <a:ln/>
        </p:spPr>
        <p:txBody>
          <a:bodyPr wrap="square" lIns="0" tIns="0" rIns="0" bIns="0" rtlCol="0" anchor="t"/>
          <a:lstStyle/>
          <a:p>
            <a:pPr marL="0" indent="0">
              <a:buNone/>
            </a:pPr>
            <a:r>
              <a:rPr lang="en-US" sz="1400" dirty="0">
                <a:solidFill>
                  <a:srgbClr val="C9D3E3"/>
                </a:solidFill>
                <a:latin typeface="Roboto Condensed" panose="02000000000000000000" pitchFamily="2" charset="0"/>
                <a:ea typeface="Roboto Condensed" panose="02000000000000000000" pitchFamily="2" charset="0"/>
                <a:cs typeface="Roboto Condensed" panose="02000000000000000000" pitchFamily="2" charset="0"/>
              </a:rPr>
              <a:t>UN World Population Prospects 2024  ·  236 countries and areas  ·  1950–2100</a:t>
            </a:r>
            <a:endParaRPr lang="en-US" sz="14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400">
                <a:solidFill>
                  <a:srgbClr val="C9D3E3"/>
                </a:solidFill>
                <a:latin typeface="Roboto Condensed" panose="02000000000000000000" pitchFamily="2" charset="0"/>
                <a:ea typeface="Roboto Condensed" panose="02000000000000000000" pitchFamily="2" charset="0"/>
                <a:cs typeface="Roboto Condensed" panose="02000000000000000000" pitchFamily="2" charset="0"/>
              </a:rPr>
              <a:t>[Lorem Ipsum]  ·  [Diponegoro University</a:t>
            </a:r>
            <a:r>
              <a:rPr lang="en-US" sz="1400" dirty="0">
                <a:solidFill>
                  <a:srgbClr val="C9D3E3"/>
                </a:solidFill>
                <a:latin typeface="Roboto Condensed" panose="02000000000000000000" pitchFamily="2" charset="0"/>
                <a:ea typeface="Roboto Condensed" panose="02000000000000000000" pitchFamily="2" charset="0"/>
                <a:cs typeface="Roboto Condensed" panose="02000000000000000000" pitchFamily="2" charset="0"/>
              </a:rPr>
              <a:t>]  </a:t>
            </a:r>
            <a:r>
              <a:rPr lang="en-US" sz="1400">
                <a:solidFill>
                  <a:srgbClr val="C9D3E3"/>
                </a:solidFill>
                <a:latin typeface="Roboto Condensed" panose="02000000000000000000" pitchFamily="2" charset="0"/>
                <a:ea typeface="Roboto Condensed" panose="02000000000000000000" pitchFamily="2" charset="0"/>
                <a:cs typeface="Roboto Condensed" panose="02000000000000000000" pitchFamily="2" charset="0"/>
              </a:rPr>
              <a:t>·  [Indonesia]</a:t>
            </a:r>
            <a:endParaRPr lang="en-US" sz="14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5" name="Image 0" descr="Fertility versus life expectancy paths for 200 countries, three group medians in orange, green and blue"/>
          <p:cNvPicPr>
            <a:picLocks noChangeAspect="1"/>
          </p:cNvPicPr>
          <p:nvPr/>
        </p:nvPicPr>
        <p:blipFill>
          <a:blip r:embed="rId3"/>
          <a:stretch>
            <a:fillRect/>
          </a:stretch>
        </p:blipFill>
        <p:spPr>
          <a:xfrm>
            <a:off x="7498080" y="1371600"/>
            <a:ext cx="4206240" cy="37167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One transition, countries at different stages</a:t>
            </a:r>
            <a:endParaRPr lang="en-US" sz="32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Map of pathways" descr="World map colouring countries by pathway group A, B or C; hatching marks less certain membership"/>
          <p:cNvPicPr>
            <a:picLocks noChangeAspect="1"/>
          </p:cNvPicPr>
          <p:nvPr/>
        </p:nvPicPr>
        <p:blipFill>
          <a:blip r:embed="rId3"/>
          <a:stretch>
            <a:fillRect/>
          </a:stretch>
        </p:blipFill>
        <p:spPr>
          <a:xfrm>
            <a:off x="792785" y="1051560"/>
            <a:ext cx="10607040" cy="4483869"/>
          </a:xfrm>
          <a:prstGeom prst="rect">
            <a:avLst/>
          </a:prstGeom>
        </p:spPr>
      </p:pic>
      <p:sp>
        <p:nvSpPr>
          <p:cNvPr id="4" name="Caption"/>
          <p:cNvSpPr txBox="1"/>
          <p:nvPr/>
        </p:nvSpPr>
        <p:spPr>
          <a:xfrm>
            <a:off x="548640" y="5669280"/>
            <a:ext cx="11064240" cy="685800"/>
          </a:xfrm>
          <a:prstGeom prst="rect">
            <a:avLst/>
          </a:prstGeom>
          <a:noFill/>
          <a:ln/>
        </p:spPr>
        <p:txBody>
          <a:bodyPr wrap="square" lIns="0" tIns="0" rIns="0" bIns="0" rtlCol="0" anchor="t"/>
          <a:lstStyle/>
          <a:p>
            <a:pPr marL="0" indent="0">
              <a:buNone/>
            </a:pPr>
            <a:r>
              <a:rPr lang="en-US" sz="1100" dirty="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rPr>
              <a:t>Hatching = less certain membership (kept its group in under 90% of resamples) or under 100,000 people (assigned to the nearest group). Groups are descriptive stages along one continuum, not rankings; "countries and areas" includes non-sovereign territories. Source: UN WPP 2024 (modelled estimates); boundaries from Natural Earth imply no position on any border.</a:t>
            </a:r>
            <a:endParaRPr lang="en-US" sz="11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latin typeface="Roboto Condensed" panose="020F0502020204030204" pitchFamily="2" charset="0"/>
                <a:ea typeface="Roboto Condensed" panose="020F0502020204030204" pitchFamily="2" charset="0"/>
                <a:cs typeface="Roboto Condensed" panose="020F0502020204030204" pitchFamily="2" charset="0"/>
              </a:rPr>
              <a:t>Fertility gaps close; longevity gaps at 60 widen</a:t>
            </a:r>
            <a:endParaRPr lang="en-US" sz="3200" dirty="0">
              <a:latin typeface="Roboto Condensed" panose="020F0502020204030204" pitchFamily="2" charset="0"/>
              <a:ea typeface="Roboto Condensed" panose="020F0502020204030204" pitchFamily="2" charset="0"/>
              <a:cs typeface="Roboto Condensed" panose="020F0502020204030204" pitchFamily="2" charset="0"/>
            </a:endParaRPr>
          </a:p>
        </p:txBody>
      </p:sp>
      <p:pic>
        <p:nvPicPr>
          <p:cNvPr id="3" name="Corridor and projections" descr="Fertility versus life expectancy paths with group medians, and group medians over time to 2100 with projections dashed"/>
          <p:cNvPicPr>
            <a:picLocks noChangeAspect="1"/>
          </p:cNvPicPr>
          <p:nvPr/>
        </p:nvPicPr>
        <p:blipFill>
          <a:blip r:embed="rId3"/>
          <a:stretch>
            <a:fillRect/>
          </a:stretch>
        </p:blipFill>
        <p:spPr>
          <a:xfrm>
            <a:off x="978408" y="1051560"/>
            <a:ext cx="10241280" cy="4590444"/>
          </a:xfrm>
          <a:prstGeom prst="rect">
            <a:avLst/>
          </a:prstGeom>
        </p:spPr>
      </p:pic>
      <p:sp>
        <p:nvSpPr>
          <p:cNvPr id="4" name="Caption"/>
          <p:cNvSpPr txBox="1"/>
          <p:nvPr/>
        </p:nvSpPr>
        <p:spPr>
          <a:xfrm>
            <a:off x="548640" y="5760720"/>
            <a:ext cx="11064240" cy="548640"/>
          </a:xfrm>
          <a:prstGeom prst="rect">
            <a:avLst/>
          </a:prstGeom>
          <a:noFill/>
          <a:ln/>
        </p:spPr>
        <p:txBody>
          <a:bodyPr wrap="square" lIns="0" tIns="0" rIns="0" bIns="0" rtlCol="0" anchor="t"/>
          <a:lstStyle/>
          <a:p>
            <a:pPr marL="0" indent="0">
              <a:buNone/>
            </a:pPr>
            <a:r>
              <a:rPr lang="en-US" sz="1100" dirty="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rPr>
              <a:t>Dashed = UN Medium projection: a scenario, not a forecast; its fertility convergence is largely a property of the projection model. Groups fixed from 1950–2019 history; medians of 200 countries and areas. Source: UN </a:t>
            </a:r>
            <a:r>
              <a:rPr lang="en-US" sz="110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rPr>
              <a:t>WPP 2024.</a:t>
            </a:r>
            <a:endParaRPr lang="en-US" sz="11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Roboto Condensed" panose="02000000000000000000" pitchFamily="2" charset="0"/>
                <a:ea typeface="Roboto Condensed" panose="02000000000000000000" pitchFamily="2" charset="0"/>
                <a:cs typeface="Roboto Condensed" panose="02000000000000000000" pitchFamily="2" charset="0"/>
              </a:rPr>
              <a:t>3</a:t>
            </a:fld>
            <a:endParaRPr lang="en-US">
              <a:latin typeface="Roboto Condensed" panose="02000000000000000000" pitchFamily="2" charset="0"/>
              <a:ea typeface="Roboto Condensed" panose="02000000000000000000" pitchFamily="2" charset="0"/>
              <a:cs typeface="Roboto Condensed" panose="020000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Stable groups, soft edges, futures as ranges</a:t>
            </a:r>
            <a:endParaRPr lang="en-US" sz="3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Left heading"/>
          <p:cNvSpPr txBox="1"/>
          <p:nvPr/>
        </p:nvSpPr>
        <p:spPr>
          <a:xfrm>
            <a:off x="548640" y="1051560"/>
            <a:ext cx="5120640" cy="365760"/>
          </a:xfrm>
          <a:prstGeom prst="rect">
            <a:avLst/>
          </a:prstGeom>
          <a:noFill/>
          <a:ln/>
        </p:spPr>
        <p:txBody>
          <a:bodyPr wrap="square" lIns="0" tIns="0" rIns="0" bIns="0" rtlCol="0" anchor="ctr"/>
          <a:lstStyle/>
          <a:p>
            <a:pPr marL="0" indent="0">
              <a:buNone/>
            </a:pPr>
            <a:r>
              <a:rPr lang="en-US" sz="1800"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How sure are the groups?</a:t>
            </a:r>
            <a:endParaRPr lang="en-US" sz="18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4" name="Robustness range plot" descr="Range plot: k-means keeps 94 to 100 percent of countries in the same group across 16 data choices; Ward and mixture models agree less"/>
          <p:cNvPicPr>
            <a:picLocks noChangeAspect="1"/>
          </p:cNvPicPr>
          <p:nvPr/>
        </p:nvPicPr>
        <p:blipFill>
          <a:blip r:embed="rId3"/>
          <a:stretch>
            <a:fillRect/>
          </a:stretch>
        </p:blipFill>
        <p:spPr>
          <a:xfrm>
            <a:off x="548640" y="1508760"/>
            <a:ext cx="5029200" cy="3974710"/>
          </a:xfrm>
          <a:prstGeom prst="rect">
            <a:avLst/>
          </a:prstGeom>
        </p:spPr>
      </p:pic>
      <p:sp>
        <p:nvSpPr>
          <p:cNvPr id="5" name="Right heading"/>
          <p:cNvSpPr txBox="1"/>
          <p:nvPr/>
        </p:nvSpPr>
        <p:spPr>
          <a:xfrm>
            <a:off x="6309360" y="1051560"/>
            <a:ext cx="5303520" cy="365760"/>
          </a:xfrm>
          <a:prstGeom prst="rect">
            <a:avLst/>
          </a:prstGeom>
          <a:noFill/>
          <a:ln/>
        </p:spPr>
        <p:txBody>
          <a:bodyPr wrap="square" lIns="0" tIns="0" rIns="0" bIns="0" rtlCol="0" anchor="ctr"/>
          <a:lstStyle/>
          <a:p>
            <a:pPr marL="0" indent="0">
              <a:buNone/>
            </a:pP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How uncertain are the futures?</a:t>
            </a:r>
            <a:endParaRPr lang="en-US" dirty="0">
              <a:latin typeface="Roboto Condensed" panose="02000000000000000000" pitchFamily="2" charset="0"/>
              <a:ea typeface="Roboto Condensed" panose="02000000000000000000" pitchFamily="2" charset="0"/>
              <a:cs typeface="Roboto Condensed" panose="02000000000000000000" pitchFamily="2" charset="0"/>
            </a:endParaRPr>
          </a:p>
        </p:txBody>
      </p:sp>
      <p:graphicFrame>
        <p:nvGraphicFramePr>
          <p:cNvPr id="6" name="Chart 0"/>
          <p:cNvGraphicFramePr/>
          <p:nvPr/>
        </p:nvGraphicFramePr>
        <p:xfrm>
          <a:off x="6309360" y="1508760"/>
          <a:ext cx="5303520" cy="4069080"/>
        </p:xfrm>
        <a:graphic>
          <a:graphicData uri="http://schemas.openxmlformats.org/drawingml/2006/chart">
            <c:chart xmlns:c="http://schemas.openxmlformats.org/drawingml/2006/chart" xmlns:r="http://schemas.openxmlformats.org/officeDocument/2006/relationships" r:id="rId4"/>
          </a:graphicData>
        </a:graphic>
      </p:graphicFrame>
      <p:sp>
        <p:nvSpPr>
          <p:cNvPr id="7" name="Left takeaway"/>
          <p:cNvSpPr txBox="1"/>
          <p:nvPr/>
        </p:nvSpPr>
        <p:spPr>
          <a:xfrm>
            <a:off x="548640" y="5669280"/>
            <a:ext cx="5120640" cy="685800"/>
          </a:xfrm>
          <a:prstGeom prst="rect">
            <a:avLst/>
          </a:prstGeom>
          <a:noFill/>
          <a:ln/>
        </p:spPr>
        <p:txBody>
          <a:bodyPr wrap="square" lIns="0" tIns="0" rIns="0" bIns="0" rtlCol="0" anchor="t"/>
          <a:lstStyle/>
          <a:p>
            <a:pPr marL="0" indent="0">
              <a:buNone/>
            </a:pPr>
            <a:r>
              <a:rPr lang="en-US" sz="1200"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K-means keeps 94–100% of countries in the same group across 16 data choices; 97.5% keep their group in at least 80% of 500 resamples. Ward and GMM agree less (71–93%): edges depend on the method.</a:t>
            </a:r>
            <a:endParaRPr lang="en-US" sz="1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8" name="Right takeaway"/>
          <p:cNvSpPr txBox="1"/>
          <p:nvPr/>
        </p:nvSpPr>
        <p:spPr>
          <a:xfrm>
            <a:off x="6309360" y="5669280"/>
            <a:ext cx="5303520" cy="685800"/>
          </a:xfrm>
          <a:prstGeom prst="rect">
            <a:avLst/>
          </a:prstGeom>
          <a:noFill/>
          <a:ln/>
        </p:spPr>
        <p:txBody>
          <a:bodyPr wrap="square" lIns="0" tIns="0" rIns="0" bIns="0" rtlCol="0" anchor="t"/>
          <a:lstStyle/>
          <a:p>
            <a:pPr marL="0" indent="0">
              <a:buNone/>
            </a:pPr>
            <a:r>
              <a:rPr lang="en-US" sz="1200"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Wider for earlier-stage groups (ρ = −0.19, p = 0.007), but fragile: the 2100 ordering disappears when all 236 areas are included (ρ = −0.07, p = 0.30). Width = (upper − lower 95% bound) ÷ median.</a:t>
            </a:r>
            <a:endParaRPr lang="en-US" sz="1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685800"/>
          </a:xfrm>
          <a:prstGeom prst="rect">
            <a:avLst/>
          </a:prstGeom>
          <a:noFill/>
          <a:ln/>
        </p:spPr>
        <p:txBody>
          <a:bodyPr wrap="square" lIns="0" tIns="0" rIns="0" bIns="0" rtlCol="0" anchor="ctr"/>
          <a:lstStyle/>
          <a:p>
            <a:pPr marL="0" indent="0" algn="l">
              <a:buNone/>
            </a:pPr>
            <a:r>
              <a:rPr lang="en-US" b="1"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What persists, and how to use it responsibly</a:t>
            </a:r>
            <a:endParaRPr lang="en-US"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ersistence figure" descr="Birth life expectancy converged while life expectancy at 60 diverged; women's lead at 60 widens in group D and narrows in group E"/>
          <p:cNvPicPr>
            <a:picLocks noChangeAspect="1"/>
          </p:cNvPicPr>
          <p:nvPr/>
        </p:nvPicPr>
        <p:blipFill>
          <a:blip r:embed="rId3"/>
          <a:stretch>
            <a:fillRect/>
          </a:stretch>
        </p:blipFill>
        <p:spPr>
          <a:xfrm>
            <a:off x="548640" y="1051560"/>
            <a:ext cx="6400800" cy="4584443"/>
          </a:xfrm>
          <a:prstGeom prst="rect">
            <a:avLst/>
          </a:prstGeom>
        </p:spPr>
      </p:pic>
      <p:sp>
        <p:nvSpPr>
          <p:cNvPr id="4" name="Responsible use card"/>
          <p:cNvSpPr/>
          <p:nvPr/>
        </p:nvSpPr>
        <p:spPr>
          <a:xfrm>
            <a:off x="7269480" y="1051560"/>
            <a:ext cx="4370832" cy="4581144"/>
          </a:xfrm>
          <a:prstGeom prst="rect">
            <a:avLst/>
          </a:prstGeom>
          <a:solidFill>
            <a:srgbClr val="0F1B2D"/>
          </a:solidFill>
          <a:ln w="12700">
            <a:solidFill>
              <a:srgbClr val="0F1B2D"/>
            </a:solidFill>
            <a:prstDash val="solid"/>
          </a:ln>
        </p:spPr>
        <p:txBody>
          <a:bodyPr/>
          <a:lstStyle/>
          <a:p>
            <a:endParaRPr lang="en-ID"/>
          </a:p>
        </p:txBody>
      </p:sp>
      <p:sp>
        <p:nvSpPr>
          <p:cNvPr id="5" name="Card heading"/>
          <p:cNvSpPr txBox="1"/>
          <p:nvPr/>
        </p:nvSpPr>
        <p:spPr>
          <a:xfrm>
            <a:off x="7543800" y="1188720"/>
            <a:ext cx="3840480" cy="411480"/>
          </a:xfrm>
          <a:prstGeom prst="rect">
            <a:avLst/>
          </a:prstGeom>
          <a:noFill/>
          <a:ln/>
        </p:spPr>
        <p:txBody>
          <a:bodyPr wrap="square" lIns="0" tIns="0" rIns="0" bIns="0" rtlCol="0" anchor="ctr"/>
          <a:lstStyle/>
          <a:p>
            <a:pPr marL="0" indent="0">
              <a:buNone/>
            </a:pPr>
            <a:r>
              <a:rPr lang="en-US" sz="2000" b="1"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Use with care</a:t>
            </a:r>
            <a:endParaRPr lang="en-US" sz="20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6" name="Responsible use list"/>
          <p:cNvSpPr txBox="1"/>
          <p:nvPr/>
        </p:nvSpPr>
        <p:spPr>
          <a:xfrm>
            <a:off x="7543800" y="1737360"/>
            <a:ext cx="3840480" cy="3749040"/>
          </a:xfrm>
          <a:prstGeom prst="rect">
            <a:avLst/>
          </a:prstGeom>
          <a:noFill/>
          <a:ln/>
        </p:spPr>
        <p:txBody>
          <a:bodyPr wrap="square" lIns="0" tIns="0" rIns="0" bIns="0" rtlCol="0" anchor="t"/>
          <a:lstStyle/>
          <a:p>
            <a:pPr marL="0" indent="0">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Scenarios, not forecasts</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5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Projections are ranges; fertility convergence is largely a model property.</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spcBef>
                <a:spcPts val="1400"/>
              </a:spcBef>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Modelled, uneven data</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5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Early years and low-data countries rest on UN estimates.</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spcBef>
                <a:spcPts val="1400"/>
              </a:spcBef>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Patterns, not causes</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5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Exploratory and post hoc findings are labelled; no rankings or merit labels.</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spcBef>
                <a:spcPts val="1400"/>
              </a:spcBef>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Soft edges</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5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5 of 200 countries sit on a group boundary; averages hide differences within countries.</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7" name="Caption"/>
          <p:cNvSpPr txBox="1"/>
          <p:nvPr/>
        </p:nvSpPr>
        <p:spPr>
          <a:xfrm>
            <a:off x="548640" y="5760720"/>
            <a:ext cx="11064240" cy="640080"/>
          </a:xfrm>
          <a:prstGeom prst="rect">
            <a:avLst/>
          </a:prstGeom>
          <a:noFill/>
          <a:ln/>
        </p:spPr>
        <p:txBody>
          <a:bodyPr wrap="square" lIns="0" tIns="0" rIns="0" bIns="0" rtlCol="0" anchor="t"/>
          <a:lstStyle/>
          <a:p>
            <a:pPr marL="0" indent="0">
              <a:buNone/>
            </a:pPr>
            <a:r>
              <a:rPr lang="en-US" sz="1100" dirty="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rPr>
              <a:t>Left: exploratory and descriptive, no causal claim; older-age values for low-data countries are partly model-based. Group letters in the lower panel come from the post hoc k = 5 view (D: mostly Eastern Europe plus some Caribbean and other countries; E: mostly Western, Northern and Southern Europe, East Asia, North America). Source: UN WPP 2024 and supplement.</a:t>
            </a:r>
            <a:endParaRPr lang="en-US" sz="11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b="1"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References and reproducibility</a:t>
            </a:r>
            <a:endParaRPr lang="en-US"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3" name="References left"/>
          <p:cNvSpPr txBox="1"/>
          <p:nvPr/>
        </p:nvSpPr>
        <p:spPr>
          <a:xfrm>
            <a:off x="548640" y="1463040"/>
            <a:ext cx="5394960" cy="4754880"/>
          </a:xfrm>
          <a:prstGeom prst="rect">
            <a:avLst/>
          </a:prstGeom>
          <a:noFill/>
          <a:ln/>
        </p:spPr>
        <p:txBody>
          <a:bodyPr wrap="square" lIns="0" tIns="0" rIns="0" bIns="0" rtlCol="0" anchor="t"/>
          <a:lstStyle/>
          <a:p>
            <a:pPr marL="0" indent="0">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Data. </a:t>
            </a:r>
            <a:r>
              <a:rPr lang="en-US" sz="1600" dirty="0">
                <a:solidFill>
                  <a:srgbClr val="E6ECF5"/>
                </a:solidFill>
                <a:latin typeface="Roboto Condensed" panose="02000000000000000000" pitchFamily="2" charset="0"/>
                <a:ea typeface="Roboto Condensed" panose="02000000000000000000" pitchFamily="2" charset="0"/>
                <a:cs typeface="Roboto Condensed" panose="02000000000000000000" pitchFamily="2" charset="0"/>
              </a:rPr>
              <a:t>United Nations, Department of Economic and Social Affairs, Population Division (2024). World Population Prospects 2024, Online Edition; Medium variant, other variants (probability intervals) and the DataQuest supplement (births by sex, LE60). License CC BY 3.0 IGO.</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Ethics. </a:t>
            </a:r>
            <a:r>
              <a:rPr lang="en-US" sz="1600" dirty="0">
                <a:solidFill>
                  <a:srgbClr val="E6ECF5"/>
                </a:solidFill>
                <a:latin typeface="Roboto Condensed" panose="02000000000000000000" pitchFamily="2" charset="0"/>
                <a:ea typeface="Roboto Condensed" panose="02000000000000000000" pitchFamily="2" charset="0"/>
                <a:cs typeface="Roboto Condensed" panose="02000000000000000000" pitchFamily="2" charset="0"/>
              </a:rPr>
              <a:t>American Statistical Association (2022). Ethical Guidelines for Statistical Practice. Zenodo. https://doi.org/10.5281/zenodo.7092386</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Competition. </a:t>
            </a:r>
            <a:r>
              <a:rPr lang="en-US" sz="1600" dirty="0">
                <a:solidFill>
                  <a:srgbClr val="E6ECF5"/>
                </a:solidFill>
                <a:latin typeface="Roboto Condensed" panose="02000000000000000000" pitchFamily="2" charset="0"/>
                <a:ea typeface="Roboto Condensed" panose="02000000000000000000" pitchFamily="2" charset="0"/>
                <a:cs typeface="Roboto Condensed" panose="02000000000000000000" pitchFamily="2" charset="0"/>
              </a:rPr>
              <a:t>2026 ASA International DataQuest: WPP2024 Getting Started guide and supplement description.</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4" name="References right"/>
          <p:cNvSpPr txBox="1"/>
          <p:nvPr/>
        </p:nvSpPr>
        <p:spPr>
          <a:xfrm>
            <a:off x="6309360" y="1463040"/>
            <a:ext cx="5303520" cy="4754880"/>
          </a:xfrm>
          <a:prstGeom prst="rect">
            <a:avLst/>
          </a:prstGeom>
          <a:noFill/>
          <a:ln/>
        </p:spPr>
        <p:txBody>
          <a:bodyPr wrap="square" lIns="0" tIns="0" rIns="0" bIns="0" rtlCol="0" anchor="t"/>
          <a:lstStyle/>
          <a:p>
            <a:pPr marL="0" indent="0">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Map. </a:t>
            </a:r>
            <a:r>
              <a:rPr lang="en-US" sz="1600" dirty="0">
                <a:solidFill>
                  <a:srgbClr val="E6ECF5"/>
                </a:solidFill>
                <a:latin typeface="Roboto Condensed" panose="02000000000000000000" pitchFamily="2" charset="0"/>
                <a:ea typeface="Roboto Condensed" panose="02000000000000000000" pitchFamily="2" charset="0"/>
                <a:cs typeface="Roboto Condensed" panose="02000000000000000000" pitchFamily="2" charset="0"/>
              </a:rPr>
              <a:t>Natural Earth, 1:110m Cultural Vectors (public domain); boundaries imply no position on any border or territory status.</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Colour. </a:t>
            </a:r>
            <a:r>
              <a:rPr lang="en-US" sz="1600" dirty="0">
                <a:solidFill>
                  <a:srgbClr val="E6ECF5"/>
                </a:solidFill>
                <a:latin typeface="Roboto Condensed" panose="02000000000000000000" pitchFamily="2" charset="0"/>
                <a:ea typeface="Roboto Condensed" panose="02000000000000000000" pitchFamily="2" charset="0"/>
                <a:cs typeface="Roboto Condensed" panose="02000000000000000000" pitchFamily="2" charset="0"/>
              </a:rPr>
              <a:t>Okabe, M. &amp; Ito, K. (2008). Color Universal Design (CUD): colour-blind-safe palette used for all groups.</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a:p>
            <a:pPr marL="0" indent="0">
              <a:buNone/>
            </a:pPr>
            <a:r>
              <a:rPr lang="en-US" sz="1600" b="1" dirty="0">
                <a:solidFill>
                  <a:srgbClr val="F4C27A"/>
                </a:solidFill>
                <a:latin typeface="Roboto Condensed" panose="02000000000000000000" pitchFamily="2" charset="0"/>
                <a:ea typeface="Roboto Condensed" panose="02000000000000000000" pitchFamily="2" charset="0"/>
                <a:cs typeface="Roboto Condensed" panose="02000000000000000000" pitchFamily="2" charset="0"/>
              </a:rPr>
              <a:t>Method and code. </a:t>
            </a:r>
            <a:r>
              <a:rPr lang="en-US" sz="1600" dirty="0">
                <a:solidFill>
                  <a:srgbClr val="E6ECF5"/>
                </a:solidFill>
                <a:latin typeface="Roboto Condensed" panose="02000000000000000000" pitchFamily="2" charset="0"/>
                <a:ea typeface="Roboto Condensed" panose="02000000000000000000" pitchFamily="2" charset="0"/>
                <a:cs typeface="Roboto Condensed" panose="02000000000000000000" pitchFamily="2" charset="0"/>
              </a:rPr>
              <a:t>Python (pandas, NumPy, SciPy, scikit-learn, Matplotlib). Analysis plan locked on 9 October 2026 before modelling, with dated addendum entries and Git history; every result reproduces from the notebook.</a:t>
            </a:r>
            <a:endParaRPr lang="en-US" sz="1600" dirty="0">
              <a:latin typeface="Roboto Condensed" panose="02000000000000000000" pitchFamily="2" charset="0"/>
              <a:ea typeface="Roboto Condensed" panose="02000000000000000000" pitchFamily="2" charset="0"/>
              <a:cs typeface="Roboto Condensed" panose="02000000000000000000" pitchFamily="2" charset="0"/>
            </a:endParaRPr>
          </a:p>
        </p:txBody>
      </p:sp>
    </p:spTree>
  </p:cSld>
  <p:clrMapOvr>
    <a:masterClrMapping/>
  </p:clrMapOvr>
</p:sld>
</file>

<file path=ppt/theme/theme1.xml><?xml version="1.0" encoding="utf-8"?>
<a:theme xmlns:a="http://schemas.openxmlformats.org/drawingml/2006/main" name="DataQuest 2026">
  <a:themeElements>
    <a:clrScheme name="DataQuest 2026">
      <a:dk1>
        <a:srgbClr val="16202D"/>
      </a:dk1>
      <a:lt1>
        <a:srgbClr val="FFFFFF"/>
      </a:lt1>
      <a:dk2>
        <a:srgbClr val="5B6573"/>
      </a:dk2>
      <a:lt2>
        <a:srgbClr val="F1F4F8"/>
      </a:lt2>
      <a:accent1>
        <a:srgbClr val="0F1B2D"/>
      </a:accent1>
      <a:accent2>
        <a:srgbClr val="E69F00"/>
      </a:accent2>
      <a:accent3>
        <a:srgbClr val="009E73"/>
      </a:accent3>
      <a:accent4>
        <a:srgbClr val="0072B2"/>
      </a:accent4>
      <a:accent5>
        <a:srgbClr val="CC79A7"/>
      </a:accent5>
      <a:accent6>
        <a:srgbClr val="D55E00"/>
      </a:accent6>
      <a:hlink>
        <a:srgbClr val="0072B2"/>
      </a:hlink>
      <a:folHlink>
        <a:srgbClr val="5E3C99"/>
      </a:folHlink>
    </a:clrScheme>
    <a:fontScheme name="DataQuest 202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1218</Words>
  <Application>Microsoft Office PowerPoint</Application>
  <PresentationFormat>Widescreen</PresentationFormat>
  <Paragraphs>49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Roboto Condensed</vt:lpstr>
      <vt:lpstr>DataQuest 2026</vt:lpstr>
      <vt:lpstr>Demographic pathways: one transition, different timings</vt:lpstr>
      <vt:lpstr>One transition, countries at different stages</vt:lpstr>
      <vt:lpstr>Fertility gaps close; longevity gaps at 60 widen</vt:lpstr>
      <vt:lpstr>Stable groups, soft edges, futures as ranges</vt:lpstr>
      <vt:lpstr>What persists, and how to use it responsibly</vt:lpstr>
      <vt:lpstr>References and reproducibility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Demographic pathways: one transition, different timings</dc:title>
  <dc:subject>PptxGenJS Presentation</dc:subject>
  <dc:creator>PptxGenJS</dc:creator>
  <cp:lastModifiedBy>Ahza Taradiva Pasha</cp:lastModifiedBy>
  <cp:revision>2</cp:revision>
  <dcterms:created xsi:type="dcterms:W3CDTF">2026-10-10T11:44:49Z</dcterms:created>
  <dcterms:modified xsi:type="dcterms:W3CDTF">2026-10-12T08:37:01Z</dcterms:modified>
</cp:coreProperties>
</file>